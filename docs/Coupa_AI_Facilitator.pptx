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8000" y="1028700"/>
            <a:ext cx="6096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8BFD"/>
                </a:solidFill>
              </a:rPr>
              <a:t>🏆 1-Day Hackathon · 2026.04.17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219200" y="1714500"/>
            <a:ext cx="9753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9C0FF"/>
                </a:solidFill>
              </a:rPr>
              <a:t>Coupa AI Facilitator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219200" y="2743200"/>
            <a:ext cx="9753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</a:rPr>
              <a:t>사내 구매/계약 프로세스 AI 챗봇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19200" y="3429000"/>
            <a:ext cx="9753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</a:rPr>
              <a:t>팀 유니키로  |  최정아 · 유지원 · 김동현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75360" y="4251960"/>
            <a:ext cx="1950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8BFD"/>
                </a:solidFill>
              </a:rPr>
              <a:t>1일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75360" y="4800600"/>
            <a:ext cx="1950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개발 기간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69920" y="4251960"/>
            <a:ext cx="1950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8BFD"/>
                </a:solidFill>
              </a:rPr>
              <a:t>3개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169920" y="4800600"/>
            <a:ext cx="1950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Lambda 함수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64480" y="4251960"/>
            <a:ext cx="1950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8BFD"/>
                </a:solidFill>
              </a:rPr>
              <a:t>155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364480" y="4800600"/>
            <a:ext cx="1950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RAG 청크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559040" y="4251960"/>
            <a:ext cx="1950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8BFD"/>
                </a:solidFill>
              </a:rPr>
              <a:t>5/6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559040" y="4800600"/>
            <a:ext cx="1950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UAT PASS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753600" y="4251960"/>
            <a:ext cx="1950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8BFD"/>
                </a:solidFill>
              </a:rPr>
              <a:t>$35~100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753600" y="4800600"/>
            <a:ext cx="19507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월 운영비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9600" y="54864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AWS Lambda  ·  Amazon Bedrock  ·  FAISS RAG  ·  DynamoDB  ·  Teams Bot  ·  Coupa REST API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800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8BFD"/>
                </a:solidFill>
              </a:rPr>
              <a:t>Background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8229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</a:rPr>
              <a:t>왜 만들었나요?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600" y="1440180"/>
            <a:ext cx="731520" cy="54864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600" y="1714500"/>
            <a:ext cx="2682240" cy="30861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0" y="1851660"/>
            <a:ext cx="26822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9C0FF"/>
                </a:solidFill>
              </a:rPr>
              <a:t>😤 반복 문의 집중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600" y="2400300"/>
            <a:ext cx="268224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구매 절차·결재 라인 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동일 질문이 담당자에게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반복 집중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0" y="1714500"/>
            <a:ext cx="2682240" cy="30861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851660"/>
            <a:ext cx="26822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9C0FF"/>
                </a:solidFill>
              </a:rPr>
              <a:t>📄 문서 파편화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2400300"/>
            <a:ext cx="268224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PDF 매뉴얼 3종이 분산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직원이 최신 정책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찾기 어려움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39840" y="1714500"/>
            <a:ext cx="2682240" cy="30861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39840" y="1851660"/>
            <a:ext cx="26822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9C0FF"/>
                </a:solidFill>
              </a:rPr>
              <a:t>⏰ 계약 만료 누락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39840" y="2400300"/>
            <a:ext cx="268224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D-60 알림이 수동 관리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갱신 시기 놓치는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리스크 상존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204960" y="1714500"/>
            <a:ext cx="2682240" cy="30861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04960" y="1851660"/>
            <a:ext cx="26822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9C0FF"/>
                </a:solidFill>
              </a:rPr>
              <a:t>🔗 시스템 단절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204960" y="2400300"/>
            <a:ext cx="268224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Coupa ↔ Teams 연동 부재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승인 현황 실시간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확인 불가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9600" y="5143500"/>
            <a:ext cx="10972800" cy="1028700"/>
          </a:xfrm>
          <a:prstGeom prst="rect">
            <a:avLst/>
          </a:prstGeom>
          <a:solidFill>
            <a:srgbClr val="000000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9600" y="54178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8BFD"/>
                </a:solidFill>
              </a:rPr>
              <a:t>1일 해커톤  ·  3개 Lambda  ·  Serverless  ·  월 $35~100  ·  UAT 5/6 PASS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800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8BFD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8229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</a:rPr>
              <a:t>최종 시스템 아키텍처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600" y="1440180"/>
            <a:ext cx="731520" cy="54864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9600" y="164592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</a:rPr>
              <a:t>🟦 Teams 챗봇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560320" y="1645920"/>
            <a:ext cx="9022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Teams → Azure Bot → API GW /teams → Lambda:rag → FAISS 벡터검색 → Bedrock Claude → Teams 답변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9600" y="233172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</a:rPr>
              <a:t>🟥 Chat UI v5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0" y="2331720"/>
            <a:ext cx="9022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Chat UI → API GW /chat → Lambda:rag → FAISS + Bedrock → 웹 답변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9600" y="301752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</a:rPr>
              <a:t>🟨 D-60 알림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60320" y="3017520"/>
            <a:ext cx="9022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EventBridge 09:00 KST → Lambda:scheduler → Coupa API → Teams Adaptive Card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09600" y="370332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</a:rPr>
              <a:t>🟧 Coupa Webhook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60320" y="3703320"/>
            <a:ext cx="9022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Coupa 이벤트 → API GW /coupa/webhook → Lambda:webhook → Teams 상태변경 알림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600" y="4457700"/>
            <a:ext cx="26822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" y="4594860"/>
            <a:ext cx="26822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9C0FF"/>
                </a:solidFill>
              </a:rPr>
              <a:t>🤖 Lambda 1: RAG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9600" y="5074920"/>
            <a:ext cx="2682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FAISS 155 chunks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Bedrock nova-lite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DynamoDB 대화기억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74720" y="4457700"/>
            <a:ext cx="26822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0" y="4594860"/>
            <a:ext cx="26822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9C0FF"/>
                </a:solidFill>
              </a:rPr>
              <a:t>⏰ Lambda 2: 스케줄러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5074920"/>
            <a:ext cx="2682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EventBridge Cron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D-60 계약 조회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Teams 알림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39840" y="4457700"/>
            <a:ext cx="26822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9840" y="4594860"/>
            <a:ext cx="26822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9C0FF"/>
                </a:solidFill>
              </a:rPr>
              <a:t>🔔 Lambda 3: Webhook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39840" y="5074920"/>
            <a:ext cx="2682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Coupa 이벤트 수신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상태변경 처리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Teams 알림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204960" y="4457700"/>
            <a:ext cx="26822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04960" y="4594860"/>
            <a:ext cx="26822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9C0FF"/>
                </a:solidFill>
              </a:rPr>
              <a:t>📚 Knowledge Base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04960" y="5074920"/>
            <a:ext cx="2682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PDF 3종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process_guide.md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FAISS 155 chunks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800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8BFD"/>
                </a:solidFill>
              </a:rPr>
              <a:t>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8229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</a:rPr>
              <a:t>주요 기능 6가지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600" y="1440180"/>
            <a:ext cx="731520" cy="54864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600" y="1645920"/>
            <a:ext cx="36576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0" y="178308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9C0FF"/>
                </a:solidFill>
              </a:rPr>
              <a:t>🔍 RAG 기반 Q&amp;A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600" y="2331720"/>
            <a:ext cx="36576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155 chunks 벡터 검색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process_guide 우선 참조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Claude AI 한국어 답변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대화 컨텍스트 유지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450080" y="1645920"/>
            <a:ext cx="36576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50080" y="178308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9C0FF"/>
                </a:solidFill>
              </a:rPr>
              <a:t>📅 계약 만료 D-60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450080" y="2331720"/>
            <a:ext cx="36576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EventBridge 매일 09:00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Coupa API 실시간 조회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Teams Adaptive Card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ChannelMapping fallback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90560" y="1645920"/>
            <a:ext cx="36576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90560" y="178308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9C0FF"/>
                </a:solidFill>
              </a:rPr>
              <a:t>⚡ Coupa 실시간 연동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90560" y="2331720"/>
            <a:ext cx="36576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계약/PO 상태 즉시 조회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Webhook 이벤트 처리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승인 단계별 알림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approved/rejected/cancelled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9600" y="4251960"/>
            <a:ext cx="36576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600" y="43891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9C0FF"/>
                </a:solidFill>
              </a:rPr>
              <a:t>💬 Teams Bot 통합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937760"/>
            <a:ext cx="36576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Azure Bot Service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채널/DM 멘션 지원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Adaptive Card UI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Bot Framework 인증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50080" y="4251960"/>
            <a:ext cx="36576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50080" y="43891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9C0FF"/>
                </a:solidFill>
              </a:rPr>
              <a:t>🖥️ Chat UI v5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50080" y="4937760"/>
            <a:ext cx="36576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드래그 이동 가능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숨기기/복원 버튼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화면 이탈 방지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마크다운 렌더링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90560" y="4251960"/>
            <a:ext cx="36576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90560" y="43891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9C0FF"/>
                </a:solidFill>
              </a:rPr>
              <a:t>☁️ Serverless IaC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90560" y="4937760"/>
            <a:ext cx="36576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AWS SAM 단일 배포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Lambda Layer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유휴 비용 없음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자동 확장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800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8BFD"/>
                </a:solidFill>
              </a:rPr>
              <a:t>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8229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</a:rPr>
              <a:t>실제 사용 예시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600" y="1440180"/>
            <a:ext cx="731520" cy="54864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600" y="1645920"/>
            <a:ext cx="36576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0" y="178308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9C0FF"/>
                </a:solidFill>
              </a:rPr>
              <a:t>💰 결재 라인 문의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09600" y="226314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"Off-Budget 500만원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결재 라인 알려줘"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9600" y="30175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DF3"/>
                </a:solidFill>
              </a:rPr>
              <a:t>팀장 → 본부장 → CFO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6EDF3"/>
                </a:solidFill>
              </a:rPr>
              <a:t>✅ UAT PASS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50080" y="1645920"/>
            <a:ext cx="36576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50080" y="178308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9C0FF"/>
                </a:solidFill>
              </a:rPr>
              <a:t>📄 계약 조회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50080" y="226314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"123번 계약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만료일이 언제야?"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50080" y="30175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DF3"/>
                </a:solidFill>
              </a:rPr>
              <a:t>계약명/상태/만료일/담당자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6EDF3"/>
                </a:solidFill>
              </a:rPr>
              <a:t>Coupa API 실시간 조회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90560" y="1645920"/>
            <a:ext cx="36576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0560" y="178308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9C0FF"/>
                </a:solidFill>
              </a:rPr>
              <a:t>🔔 자동 만료 알림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90560" y="226314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EventBridge 매일 09:00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자동 실행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90560" y="30175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DF3"/>
                </a:solidFill>
              </a:rPr>
              <a:t>⚠️ D-60 계약 만료 알림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6EDF3"/>
                </a:solidFill>
              </a:rPr>
              <a:t>Teams Adaptive Card 발송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9600" y="4251960"/>
            <a:ext cx="36576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9600" y="43891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9C0FF"/>
                </a:solidFill>
              </a:rPr>
              <a:t>🧾 경비 처리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9600" y="486918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"경비 처리는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어떻게 해?"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9600" y="562356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DF3"/>
                </a:solidFill>
              </a:rPr>
              <a:t>Concur 시스템에서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6EDF3"/>
                </a:solidFill>
              </a:rPr>
              <a:t>경비 보고서 작성 안내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50080" y="4251960"/>
            <a:ext cx="36576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50080" y="43891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9C0FF"/>
                </a:solidFill>
              </a:rPr>
              <a:t>✅ 승인 알림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50080" y="486918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Coupa 계약 approved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Webhook 수신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50080" y="562356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DF3"/>
                </a:solidFill>
              </a:rPr>
              <a:t>✅ 계약 최종 승인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6EDF3"/>
                </a:solidFill>
              </a:rPr>
              <a:t>Teams 즉시 알림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90560" y="4251960"/>
            <a:ext cx="36576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90560" y="43891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9C0FF"/>
                </a:solidFill>
              </a:rPr>
              <a:t>📝 계약 절차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90560" y="486918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"Coupa 작성 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다음 단계가 뭐야?"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90560" y="562356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6EDF3"/>
                </a:solidFill>
              </a:rPr>
              <a:t>법무팀→인감신청→날인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6EDF3"/>
                </a:solidFill>
              </a:rPr>
              <a:t>단계별 안내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800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8BFD"/>
                </a:solidFill>
              </a:rPr>
              <a:t>UAT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8229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</a:rPr>
              <a:t>UAT 검증 결과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600" y="1440180"/>
            <a:ext cx="731520" cy="54864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4592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</a:rPr>
                        <a:t>TC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</a:rPr>
                        <a:t>테스트 항목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</a:rPr>
                        <a:t>입력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</a:rPr>
                        <a:t>판정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TC-02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On-Budget 결재 라인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On-Budget 500만원 결재 라인 알려줘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B950"/>
                          </a:solidFill>
                        </a:rPr>
                        <a:t>✅ PASS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TC-03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On-Budget 고액 결재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On-Budget 2000만원 결재 라인 알려줘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B950"/>
                          </a:solidFill>
                        </a:rPr>
                        <a:t>✅ PASS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TC-05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Off-Budget 결재 라인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Off-Budget 500만원 결재 라인 알려줘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B950"/>
                          </a:solidFill>
                        </a:rPr>
                        <a:t>✅ PASS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TC-12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경비 처리 안내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경비 처리는 어떻게 해?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B950"/>
                          </a:solidFill>
                        </a:rPr>
                        <a:t>✅ PASS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TC-16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존재하지 않는 계약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999999번 계약 알려줘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FB950"/>
                          </a:solidFill>
                        </a:rPr>
                        <a:t>✅ PASS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TC-19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PO 발행 (번호 없이)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PO 발행됐어?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29922"/>
                          </a:solidFill>
                        </a:rPr>
                        <a:t>⚠️ PARTIAL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09600" y="4937760"/>
            <a:ext cx="3413760" cy="1234440"/>
          </a:xfrm>
          <a:prstGeom prst="rect">
            <a:avLst/>
          </a:prstGeom>
          <a:solidFill>
            <a:srgbClr val="000000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9600" y="5074920"/>
            <a:ext cx="34137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FB950"/>
                </a:solidFill>
              </a:rPr>
              <a:t>5 / 6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09600" y="5692140"/>
            <a:ext cx="34137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PASS (83%)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89120" y="4937760"/>
            <a:ext cx="3413760" cy="123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0" y="5074920"/>
            <a:ext cx="34137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29922"/>
                </a:solidFill>
              </a:rPr>
              <a:t>1 / 6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4389120" y="5692140"/>
            <a:ext cx="34137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PARTIAL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168640" y="4937760"/>
            <a:ext cx="3413760" cy="12344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68640" y="5074920"/>
            <a:ext cx="34137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88BFD"/>
                </a:solidFill>
              </a:rPr>
              <a:t>0 / 6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8168640" y="5692140"/>
            <a:ext cx="34137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FAIL (인코딩 이슈 수정 완료)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800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8BFD"/>
                </a:solidFill>
              </a:rPr>
              <a:t>Cost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8229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</a:rPr>
              <a:t>운영 비용 분석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600" y="1440180"/>
            <a:ext cx="731520" cy="54864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38400" y="1645920"/>
            <a:ext cx="7315200" cy="1371600"/>
          </a:xfrm>
          <a:prstGeom prst="rect">
            <a:avLst/>
          </a:prstGeom>
          <a:solidFill>
            <a:srgbClr val="000000"/>
          </a:solidFill>
          <a:ln w="25400">
            <a:solidFill>
              <a:srgbClr val="388B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438400" y="185166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88BFD"/>
                </a:solidFill>
              </a:rPr>
              <a:t>$35 ~ $100 / 월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438400" y="253746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9E"/>
                </a:solidFill>
              </a:rPr>
              <a:t>200~300명 사용 기준 예상 운영 비용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19200" y="3429000"/>
          <a:ext cx="9753600" cy="914400"/>
        </p:xfrm>
        <a:graphic>
          <a:graphicData uri="http://schemas.openxmlformats.org/drawingml/2006/table">
            <a:tbl>
              <a:tblPr/>
              <a:tblGrid>
                <a:gridCol w="3251200"/>
                <a:gridCol w="3251200"/>
                <a:gridCol w="32512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</a:rPr>
                        <a:t>항목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</a:rPr>
                        <a:t>월 예상 비용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</a:rPr>
                        <a:t>특징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Lambda (3개)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FB950"/>
                          </a:solidFill>
                        </a:rPr>
                        <a:t>~$0 (프리티어)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요청 기반 과금, 유휴 비용 없음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API Gateway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~$3~10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REST API 호출 건수 기반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Bedrock Claude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~$30~90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nova-lite-v1:0 저비용 모델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DynamoDB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~$5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온디맨드 모드, TTL 자동 만료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S3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~$1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문서 저장 + FAISS 인덱스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6EDF3"/>
                          </a:solidFill>
                        </a:rPr>
                        <a:t>합계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8BFD"/>
                          </a:solidFill>
                        </a:rPr>
                        <a:t>$35~100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</a:rPr>
                        <a:t>Serverless, 사용량 기반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800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8BFD"/>
                </a:solidFill>
              </a:rPr>
              <a:t>Tech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8229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</a:rPr>
              <a:t>기술 스택 상세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600" y="1440180"/>
            <a:ext cx="731520" cy="54864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600" y="1645920"/>
            <a:ext cx="54864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0" y="178308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9C0FF"/>
                </a:solidFill>
              </a:rPr>
              <a:t>🤖 AI/ML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9600" y="2331720"/>
            <a:ext cx="5486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Amazon Bedrock Claude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(nova-lite-v1:0)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FAISS 벡터 검색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Titan Embed v2 (1024차원)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pypdf PDF 파싱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61760" y="1645920"/>
            <a:ext cx="54864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1760" y="178308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9C0FF"/>
                </a:solidFill>
              </a:rPr>
              <a:t>☁️ AWS 인프라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61760" y="2331720"/>
            <a:ext cx="5486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Lambda (Python 3.9)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API Gateway (5 endpoints)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DynamoDB (2 tables)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S3 + EventBridge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AWS SAM IaC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9600" y="4251960"/>
            <a:ext cx="54864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0" y="438912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9C0FF"/>
                </a:solidFill>
              </a:rPr>
              <a:t>🔗 외부 연동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09600" y="4937760"/>
            <a:ext cx="5486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Microsoft Teams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Azure Bot 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Coupa REST 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Bot Framework SDK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Webhook 이벤트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61760" y="4251960"/>
            <a:ext cx="5486400" cy="24003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1760" y="4389120"/>
            <a:ext cx="5486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9C0FF"/>
                </a:solidFill>
              </a:rPr>
              <a:t>🎨 프론트엔드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61760" y="4937760"/>
            <a:ext cx="5486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Chat UI v5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드래그/숨기기/이탈방지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marked.js 마크다운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Vanilla JS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플로팅 위젯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800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8BFD"/>
                </a:solidFill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9600" y="8229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</a:rPr>
              <a:t>향후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600" y="1440180"/>
            <a:ext cx="731520" cy="54864"/>
          </a:xfrm>
          <a:prstGeom prst="rect">
            <a:avLst/>
          </a:prstGeom>
          <a:solidFill>
            <a:srgbClr val="388BFD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600" y="1783080"/>
            <a:ext cx="182880" cy="171450"/>
          </a:xfrm>
          <a:prstGeom prst="ellipse">
            <a:avLst/>
          </a:prstGeom>
          <a:solidFill>
            <a:srgbClr val="388BFD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5360" y="17145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</a:rPr>
              <a:t>Phase 1 — 즉시 (1~2주)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75360" y="2057400"/>
            <a:ext cx="1036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TC-19 개선 · 청크 전략 최적화 · 프롬프트 튜닝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09600" y="2674620"/>
            <a:ext cx="182880" cy="171450"/>
          </a:xfrm>
          <a:prstGeom prst="ellipse">
            <a:avLst/>
          </a:prstGeom>
          <a:solidFill>
            <a:srgbClr val="388BFD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" y="260604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</a:rPr>
              <a:t>Phase 2 — 단기 (1개월)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75360" y="2948940"/>
            <a:ext cx="1036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지식베이스 확장 · 사용자 피드백 루프 · 답변 품질 모니터링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9600" y="3566160"/>
            <a:ext cx="182880" cy="171450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5360" y="349758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</a:rPr>
              <a:t>Phase 3 — 중기 (3개월)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75360" y="3840480"/>
            <a:ext cx="1036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Coupa 액션 실행 (PO 생성/승인 자동화) · 다국어 지원 · ROI 측정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9600" y="4457700"/>
            <a:ext cx="182880" cy="171450"/>
          </a:xfrm>
          <a:prstGeom prst="ellipse">
            <a:avLst/>
          </a:prstGeom>
          <a:solidFill>
            <a:srgbClr val="30363D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5360" y="438912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</a:rPr>
              <a:t>Phase 4 — 장기 (6개월+)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75360" y="4732020"/>
            <a:ext cx="1036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타 ERP 연동 확장 · Fine-tuning · 전사 AI 어시스턴트 플랫폼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219200" y="5486400"/>
            <a:ext cx="975360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388B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19200" y="5623560"/>
            <a:ext cx="9753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9C0FF"/>
                </a:solidFill>
              </a:rPr>
              <a:t>🎉 1일 해커톤 → 실제 운영 가능한 AI 챗봇 완성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19200" y="5966460"/>
            <a:ext cx="9753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</a:rPr>
              <a:t>팀 유니키로  |  최정아 · 유지원 · 김동현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Coupa AI Facilitator</dc:title>
  <dc:subject>PptxGenJS Presentation</dc:subject>
  <dc:creator>PptxGenJS</dc:creator>
  <cp:lastModifiedBy>PptxGenJS</cp:lastModifiedBy>
  <cp:revision>1</cp:revision>
  <dcterms:created xsi:type="dcterms:W3CDTF">2026-04-17T10:08:42Z</dcterms:created>
  <dcterms:modified xsi:type="dcterms:W3CDTF">2026-04-17T10:08:42Z</dcterms:modified>
</cp:coreProperties>
</file>