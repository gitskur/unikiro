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7200" y="137160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🏆 1-Day Hackathon · 2026.04.17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2438400" y="20574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79C0FF"/>
                </a:solidFill>
              </a:rPr>
              <a:t>Coupa AI Facilitator</a:t>
            </a:r>
            <a:endParaRPr lang="en-US" sz="4400" dirty="0"/>
          </a:p>
        </p:txBody>
      </p:sp>
      <p:sp>
        <p:nvSpPr>
          <p:cNvPr id="4" name="Text 2"/>
          <p:cNvSpPr/>
          <p:nvPr/>
        </p:nvSpPr>
        <p:spPr>
          <a:xfrm>
            <a:off x="2438400" y="308610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B949E"/>
                </a:solidFill>
              </a:rPr>
              <a:t>사내 구매/계약 프로세스 AI 챗봇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1828800" y="4114800"/>
            <a:ext cx="853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388BFD"/>
                </a:solidFill>
              </a:rPr>
              <a:t>1일 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개발 기간  </a:t>
            </a:r>
            <a:pPr algn="ctr" indent="0" marL="0">
              <a:buNone/>
            </a:pPr>
            <a:r>
              <a:rPr lang="en-US" sz="1600" b="1" dirty="0">
                <a:solidFill>
                  <a:srgbClr val="388BFD"/>
                </a:solidFill>
              </a:rPr>
              <a:t>3개 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Lambda  </a:t>
            </a:r>
            <a:pPr algn="ctr" indent="0" marL="0">
              <a:buNone/>
            </a:pPr>
            <a:r>
              <a:rPr lang="en-US" sz="1600" b="1" dirty="0">
                <a:solidFill>
                  <a:srgbClr val="388BFD"/>
                </a:solidFill>
              </a:rPr>
              <a:t>155 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RAG 청크  </a:t>
            </a:r>
            <a:pPr algn="ctr" indent="0" marL="0">
              <a:buNone/>
            </a:pPr>
            <a:r>
              <a:rPr lang="en-US" sz="1600" b="1" dirty="0">
                <a:solidFill>
                  <a:srgbClr val="388BFD"/>
                </a:solidFill>
              </a:rPr>
              <a:t>5/6 </a:t>
            </a:r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UAT PASS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Background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왜 만들었나요?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600" y="1508760"/>
            <a:ext cx="25603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31520" y="1645920"/>
            <a:ext cx="231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😤 반복 문의 집중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구매 절차·결재 라인 등 동일 질문이 담당자에게 반복 집중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3413760" y="1508760"/>
            <a:ext cx="25603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535680" y="1645920"/>
            <a:ext cx="231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📄 문서 파편화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PDF 매뉴얼 3종이 분산되어 최신 정책 찾기 어려움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217920" y="1508760"/>
            <a:ext cx="25603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339840" y="1645920"/>
            <a:ext cx="231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⏰ 계약 만료 누락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D-60 알림이 수동 관리되어 갱신 시기 놓치는 리스크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9022080" y="1508760"/>
            <a:ext cx="2560320" cy="19202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9144000" y="1645920"/>
            <a:ext cx="23164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🔗 시스템 단절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Coupa ↔ Teams 연동 부재로 실시간 상태 확인 불가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Architecture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최종 시스템 아키텍처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09600" y="171450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Teams → Azure Bot → API GW /teams → Lambda:rag → FAISS → Bedrock → Teams 답변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09600" y="219456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Chat UI v5 → API GW /chat → Lambda:rag → FAISS + Bedrock → 웹 답변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09600" y="267462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EventBridge 09:00 KST → Lambda:scheduler → Coupa API D-60 → Teams 알림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09600" y="3154680"/>
            <a:ext cx="109728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8B949E"/>
                </a:solidFill>
              </a:rPr>
              <a:t>Coupa Webhook → API GW /coupa/webhook → Lambda:webhook → Teams 상태변경 알림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09600" y="37719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909060"/>
            <a:ext cx="2316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🤖 Lambda 1: RAG 챗봇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FAISS 155 chunks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Bedrock nova-lite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DynamoDB 대화기억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3413760" y="37719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35680" y="3909060"/>
            <a:ext cx="2316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⏰ Lambda 2: 스케줄러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EventBridge Cron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D-60 계약 조회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Teams 알림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17920" y="37719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339840" y="3909060"/>
            <a:ext cx="2316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🔔 Lambda 3: Webhook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Coupa 이벤트 수신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상태변경 처리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Teams 알림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22080" y="3771900"/>
            <a:ext cx="256032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144000" y="3909060"/>
            <a:ext cx="231648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📚 Knowledge</a:t>
            </a:r>
            <a:endParaRPr lang="en-US" sz="1000" dirty="0"/>
          </a:p>
          <a:p>
            <a:pPr indent="0" marL="0">
              <a:buNone/>
            </a:pP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PDF 3종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process_guide.md</a:t>
            </a:r>
            <a:endParaRPr lang="en-US" sz="1000" dirty="0"/>
          </a:p>
          <a:p>
            <a:pPr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FAISS 인덱스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Features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주요 기능 6가지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09600" y="17145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9600" y="17145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🔍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09600" y="21259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RAG 기반 Q&amp;A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609600" y="24688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155 chunks 벡터 검색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process_guide 우선 참조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Claude AI 한국어 답변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267200" y="17145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267200" y="17145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📅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267200" y="21259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계약 만료 D-60 알림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67200" y="24688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EventBridge 매일 09:00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Coupa API 실시간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Teams Adaptive Card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7924800" y="17145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924800" y="17145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7924800" y="21259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Coupa 실시간 연동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7924800" y="24688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계약/PO 상태 즉시 조회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Webhook 이벤트 처리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승인 단계별 알림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09600" y="37719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9600" y="37719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💬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609600" y="41833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Teams Bot 통합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09600" y="45262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Azure Bot Service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채널/DM 멘션 지원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Adaptive Card UI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267200" y="37719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267200" y="37719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🖥️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4267200" y="41833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Chat UI v5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267200" y="45262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드래그 이동 가능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숨기기/복원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화면 이탈 방지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924800" y="3771900"/>
            <a:ext cx="3413760" cy="164592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24800" y="3771900"/>
            <a:ext cx="34137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☁️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7924800" y="418338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79C0FF"/>
                </a:solidFill>
              </a:rPr>
              <a:t>Serverless IaC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7924800" y="4526280"/>
            <a:ext cx="3413760" cy="822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AWS SAM 배포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Lambda Layer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8B949E"/>
                </a:solidFill>
              </a:rPr>
              <a:t>유휴 비용 없음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UAT Results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UAT 검증 결과</a:t>
            </a:r>
            <a:endParaRPr lang="en-US" sz="3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600" y="1714500"/>
          <a:ext cx="10972800" cy="914400"/>
        </p:xfrm>
        <a:graphic>
          <a:graphicData uri="http://schemas.openxmlformats.org/drawingml/2006/table">
            <a:tbl>
              <a:tblPr/>
              <a:tblGrid>
                <a:gridCol w="2743200"/>
                <a:gridCol w="2743200"/>
                <a:gridCol w="2743200"/>
                <a:gridCol w="2743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테스트 항목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입력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판정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TC-02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On-Budget 결재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On-Budget 500만원 결재 라인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PASS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TC-03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On-Budget 고액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On-Budget 2000만원 결재 라인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PASS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TC-05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Off-Budget 결재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Off-Budget 500만원 결재 라인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PASS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TC-12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경비 처리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경비 처리는 어떻게 해?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PASS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TC-16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존재하지 않는 계약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999999번 계약 알려줘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✅ PASS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TC-19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PO 발행 (번호 없이)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PO 발행됐어?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⚠️ PARTIAL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600" y="4800600"/>
            <a:ext cx="3413760" cy="1234440"/>
          </a:xfrm>
          <a:prstGeom prst="rect">
            <a:avLst/>
          </a:prstGeom>
          <a:solidFill>
            <a:srgbClr val="000000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9600" y="493776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3FB950"/>
                </a:solidFill>
              </a:rPr>
              <a:t>5 / 6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609600" y="548640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PASS (83%)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4389120" y="4800600"/>
            <a:ext cx="3413760" cy="1234440"/>
          </a:xfrm>
          <a:prstGeom prst="rect">
            <a:avLst/>
          </a:prstGeom>
          <a:solidFill>
            <a:srgbClr val="161B22"/>
          </a:solidFill>
          <a:ln w="12700">
            <a:solidFill>
              <a:srgbClr val="30363D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389120" y="493776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D29922"/>
                </a:solidFill>
              </a:rPr>
              <a:t>1 / 6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4389120" y="5486400"/>
            <a:ext cx="341376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PARTIAL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Cost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운영 비용 분석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2438400" y="1714500"/>
            <a:ext cx="7315200" cy="1234440"/>
          </a:xfrm>
          <a:prstGeom prst="rect">
            <a:avLst/>
          </a:prstGeom>
          <a:solidFill>
            <a:srgbClr val="000000"/>
          </a:solidFill>
          <a:ln w="25400">
            <a:solidFill>
              <a:srgbClr val="388BFD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438400" y="192024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88BFD"/>
                </a:solidFill>
              </a:rPr>
              <a:t>$35 ~ $100 / 월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2438400" y="2537460"/>
            <a:ext cx="73152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949E"/>
                </a:solidFill>
              </a:rPr>
              <a:t>200~300명 사용 기준 예상 운영 비용</a:t>
            </a:r>
            <a:endParaRPr lang="en-US" sz="14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1219200" y="3429000"/>
          <a:ext cx="9753600" cy="914400"/>
        </p:xfrm>
        <a:graphic>
          <a:graphicData uri="http://schemas.openxmlformats.org/drawingml/2006/table">
            <a:tbl>
              <a:tblPr/>
              <a:tblGrid>
                <a:gridCol w="3251200"/>
                <a:gridCol w="3251200"/>
                <a:gridCol w="3251200"/>
              </a:tblGrid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항목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월 예상 비용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특징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Lambda (3개)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~$0 (프리티어)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요청 기반 과금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API Gateway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~$3~10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REST API 호출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Bedrock Claude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~$30~90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nova-lite 저비용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DynamoDB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~$5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온디맨드 모드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S3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~$1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문서 + FAISS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합계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$35~100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E6EDF3"/>
                          </a:solidFill>
                        </a:rPr>
                        <a:t>Serverless</a:t>
                      </a:r>
                      <a:endParaRPr lang="en-US" sz="1100" dirty="0"/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30363D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61B2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11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600" y="54864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388BFD"/>
                </a:solidFill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600" y="822960"/>
            <a:ext cx="91440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E6EDF3"/>
                </a:solidFill>
              </a:rPr>
              <a:t>향후 계획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1219200" y="192024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1 — 즉시 (1~2주)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TC-19 개선 · 청크 전략 최적화 · 프롬프트 튜닝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1219200" y="274320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2 — 단기 (1개월)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지식베이스 확장 · 사용자 피드백 루프 · 답변 품질 모니터링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1219200" y="356616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3 — 중기 (3개월)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Coupa 액션 실행 (PO 생성/승인 자동화) · 다국어 지원 · ROI 측정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19200" y="4389120"/>
            <a:ext cx="97536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Phase 4 — 장기 (6개월+)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타 ERP 연동 확장 · Fine-tuning · 전사 AI 어시스턴트 플랫폼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1828800" y="5349240"/>
            <a:ext cx="8534400" cy="822960"/>
          </a:xfrm>
          <a:prstGeom prst="rect">
            <a:avLst/>
          </a:prstGeom>
          <a:solidFill>
            <a:srgbClr val="161B22"/>
          </a:solidFill>
          <a:ln w="12700">
            <a:solidFill>
              <a:srgbClr val="388BF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828800" y="5486400"/>
            <a:ext cx="853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9C0FF"/>
                </a:solidFill>
              </a:rPr>
              <a:t>🎉 1일 해커톤 → 실제 운영 가능한 AI 챗봇 완성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828800" y="5829300"/>
            <a:ext cx="8534400" cy="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949E"/>
                </a:solidFill>
              </a:rPr>
              <a:t>Serverless · 저비용 · 확장 가능 · UAT 검증 완료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Coupa AI Facilitator</dc:title>
  <dc:subject>PptxGenJS Presentation</dc:subject>
  <dc:creator>Coupa AI Team</dc:creator>
  <cp:lastModifiedBy>Coupa AI Team</cp:lastModifiedBy>
  <cp:revision>1</cp:revision>
  <dcterms:created xsi:type="dcterms:W3CDTF">2026-04-17T07:36:42Z</dcterms:created>
  <dcterms:modified xsi:type="dcterms:W3CDTF">2026-04-17T07:36:42Z</dcterms:modified>
</cp:coreProperties>
</file>